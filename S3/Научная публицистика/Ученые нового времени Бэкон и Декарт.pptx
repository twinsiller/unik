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1pPr>
    <a:lvl2pPr marL="0" marR="0" indent="4572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2pPr>
    <a:lvl3pPr marL="0" marR="0" indent="9144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3pPr>
    <a:lvl4pPr marL="0" marR="0" indent="13716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4pPr>
    <a:lvl5pPr marL="0" marR="0" indent="18288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5pPr>
    <a:lvl6pPr marL="0" marR="0" indent="22860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6pPr>
    <a:lvl7pPr marL="0" marR="0" indent="27432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7pPr>
    <a:lvl8pPr marL="0" marR="0" indent="32004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8pPr>
    <a:lvl9pPr marL="0" marR="0" indent="36576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929292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381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381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381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929292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381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381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0C768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929292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537F67"/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38100" cap="flat">
              <a:solidFill>
                <a:srgbClr val="537F67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008728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97492"/>
              <a:satOff val="-3125"/>
              <a:lumOff val="27021"/>
            </a:schemeClr>
          </a:solidFill>
        </a:fill>
      </a:tcStyle>
    </a:wholeTbl>
    <a:band2H>
      <a:tcTxStyle b="def" i="def"/>
      <a:tcStyle>
        <a:tcBdr/>
        <a:fill>
          <a:solidFill>
            <a:srgbClr val="FFFB00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410732"/>
            </a:schemeClr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38100" cap="flat">
              <a:solidFill>
                <a:schemeClr val="accent4">
                  <a:hueOff val="-410732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97492"/>
              <a:satOff val="-3125"/>
              <a:lumOff val="27021"/>
            </a:schemeClr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737021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F9DFE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114748"/>
              <a:satOff val="1446"/>
              <a:lumOff val="-8963"/>
            </a:schemeClr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38100" cap="flat">
              <a:solidFill>
                <a:schemeClr val="accent6">
                  <a:hueOff val="114748"/>
                  <a:satOff val="1446"/>
                  <a:lumOff val="-896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chemeClr val="accent6">
              <a:satOff val="-21357"/>
              <a:lumOff val="-20662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929292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381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381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5E5E5E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Автор и дата"/>
          <p:cNvSpPr txBox="1"/>
          <p:nvPr>
            <p:ph type="body" sz="quarter" idx="21" hasCustomPrompt="1"/>
          </p:nvPr>
        </p:nvSpPr>
        <p:spPr>
          <a:xfrm>
            <a:off x="1206500" y="12268782"/>
            <a:ext cx="21971000" cy="660401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Автор и дата</a:t>
            </a:r>
          </a:p>
        </p:txBody>
      </p:sp>
      <p:sp>
        <p:nvSpPr>
          <p:cNvPr id="12" name="Уровень текста 1…"/>
          <p:cNvSpPr txBox="1"/>
          <p:nvPr>
            <p:ph type="body" sz="quarter" idx="1" hasCustomPrompt="1"/>
          </p:nvPr>
        </p:nvSpPr>
        <p:spPr>
          <a:xfrm>
            <a:off x="1206500" y="7357839"/>
            <a:ext cx="21971000" cy="2006601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Подзаголовок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" name="Заголовок презентации"/>
          <p:cNvSpPr txBox="1"/>
          <p:nvPr>
            <p:ph type="title" hasCustomPrompt="1"/>
          </p:nvPr>
        </p:nvSpPr>
        <p:spPr>
          <a:xfrm>
            <a:off x="1206500" y="2621719"/>
            <a:ext cx="21971000" cy="4648201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1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Геометрический архитектурный объект из серого камня"/>
          <p:cNvSpPr/>
          <p:nvPr>
            <p:ph type="pic" idx="21"/>
          </p:nvPr>
        </p:nvSpPr>
        <p:spPr>
          <a:xfrm>
            <a:off x="0" y="-4381500"/>
            <a:ext cx="24384001" cy="1828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Автор и дата"/>
          <p:cNvSpPr txBox="1"/>
          <p:nvPr>
            <p:ph type="body" sz="quarter" idx="22" hasCustomPrompt="1"/>
          </p:nvPr>
        </p:nvSpPr>
        <p:spPr>
          <a:xfrm>
            <a:off x="1206500" y="12268200"/>
            <a:ext cx="21971000" cy="660400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Автор и дата</a:t>
            </a:r>
          </a:p>
        </p:txBody>
      </p:sp>
      <p:sp>
        <p:nvSpPr>
          <p:cNvPr id="23" name="Уровень текста 1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Подзаголовок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Заголовок презентации"/>
          <p:cNvSpPr txBox="1"/>
          <p:nvPr>
            <p:ph type="title" hasCustomPrompt="1"/>
          </p:nvPr>
        </p:nvSpPr>
        <p:spPr>
          <a:xfrm>
            <a:off x="1206500" y="2611945"/>
            <a:ext cx="21971000" cy="4648201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2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 (вариант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Геометрический архитектурный объект из серого камня"/>
          <p:cNvSpPr/>
          <p:nvPr>
            <p:ph type="pic" idx="21"/>
          </p:nvPr>
        </p:nvSpPr>
        <p:spPr>
          <a:xfrm>
            <a:off x="5707496" y="-660400"/>
            <a:ext cx="20053301" cy="1504209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Заголовок слайда"/>
          <p:cNvSpPr txBox="1"/>
          <p:nvPr>
            <p:ph type="title" hasCustomPrompt="1"/>
          </p:nvPr>
        </p:nvSpPr>
        <p:spPr>
          <a:xfrm>
            <a:off x="1206500" y="13335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Заголовок слайда</a:t>
            </a:r>
          </a:p>
        </p:txBody>
      </p:sp>
      <p:sp>
        <p:nvSpPr>
          <p:cNvPr id="34" name="Уровень текста 1…"/>
          <p:cNvSpPr txBox="1"/>
          <p:nvPr>
            <p:ph type="body" sz="quarter" idx="1" hasCustomPrompt="1"/>
          </p:nvPr>
        </p:nvSpPr>
        <p:spPr>
          <a:xfrm>
            <a:off x="1206500" y="71494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 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Заголовок слайда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43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44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61" name="Игра света и тени на угловатом архитектурном объекте из камня"/>
          <p:cNvSpPr/>
          <p:nvPr>
            <p:ph type="pic" idx="22"/>
          </p:nvPr>
        </p:nvSpPr>
        <p:spPr>
          <a:xfrm>
            <a:off x="12382500" y="0"/>
            <a:ext cx="21945600" cy="13716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2" name="Заголовок слайда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63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Номер слайда"/>
          <p:cNvSpPr txBox="1"/>
          <p:nvPr>
            <p:ph type="sldNum" sz="quarter" idx="2"/>
          </p:nvPr>
        </p:nvSpPr>
        <p:spPr>
          <a:xfrm>
            <a:off x="23558500" y="12483845"/>
            <a:ext cx="361188" cy="4041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, видео — мелк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72" name="Заголовок слайда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73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, видео — круп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82" name="Заголовок слайда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83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Разде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Заголовок раздела"/>
          <p:cNvSpPr txBox="1"/>
          <p:nvPr>
            <p:ph type="title" hasCustomPrompt="1"/>
          </p:nvPr>
        </p:nvSpPr>
        <p:spPr>
          <a:xfrm>
            <a:off x="1206500" y="3906899"/>
            <a:ext cx="21971004" cy="4648201"/>
          </a:xfrm>
          <a:prstGeom prst="rect">
            <a:avLst/>
          </a:prstGeom>
        </p:spPr>
        <p:txBody>
          <a:bodyPr anchor="ctr"/>
          <a:lstStyle>
            <a:lvl1pPr>
              <a:defRPr spc="-119" sz="12000"/>
            </a:lvl1pPr>
          </a:lstStyle>
          <a:p>
            <a:pPr/>
            <a:r>
              <a:t>Заголовок раздела</a:t>
            </a:r>
          </a:p>
        </p:txBody>
      </p:sp>
      <p:sp>
        <p:nvSpPr>
          <p:cNvPr id="9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Заголовок слайда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100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10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овестка д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Подзаголовок повестки дня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Подзаголовок повестки дня</a:t>
            </a:r>
          </a:p>
        </p:txBody>
      </p:sp>
      <p:sp>
        <p:nvSpPr>
          <p:cNvPr id="109" name="Уровень текста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6000"/>
              </a:spcBef>
              <a:buSzTx/>
              <a:buNone/>
              <a:defRPr sz="5000"/>
            </a:lvl1pPr>
            <a:lvl2pPr marL="0" indent="457200" defTabSz="825500">
              <a:spcBef>
                <a:spcPts val="6000"/>
              </a:spcBef>
              <a:buSzTx/>
              <a:buNone/>
              <a:defRPr sz="5000"/>
            </a:lvl2pPr>
            <a:lvl3pPr marL="0" indent="914400" defTabSz="825500">
              <a:spcBef>
                <a:spcPts val="6000"/>
              </a:spcBef>
              <a:buSzTx/>
              <a:buNone/>
              <a:defRPr sz="5000"/>
            </a:lvl3pPr>
            <a:lvl4pPr marL="0" indent="1371600" defTabSz="825500">
              <a:spcBef>
                <a:spcPts val="6000"/>
              </a:spcBef>
              <a:buSzTx/>
              <a:buNone/>
              <a:defRPr sz="5000"/>
            </a:lvl4pPr>
            <a:lvl5pPr marL="0" indent="1828800" defTabSz="825500">
              <a:spcBef>
                <a:spcPts val="6000"/>
              </a:spcBef>
              <a:buSzTx/>
              <a:buNone/>
              <a:defRPr sz="5000"/>
            </a:lvl5pPr>
          </a:lstStyle>
          <a:p>
            <a:pPr/>
            <a:r>
              <a:t>Темы повестки дня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Заголовок повестки дня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Заголовок повестки дня</a:t>
            </a:r>
          </a:p>
        </p:txBody>
      </p:sp>
      <p:sp>
        <p:nvSpPr>
          <p:cNvPr id="11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Информационное сообщ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Уровень текста 1…"/>
          <p:cNvSpPr txBox="1"/>
          <p:nvPr>
            <p:ph type="body" sz="half" idx="1" hasCustomPrompt="1"/>
          </p:nvPr>
        </p:nvSpPr>
        <p:spPr>
          <a:xfrm>
            <a:off x="1206500" y="4191000"/>
            <a:ext cx="21971000" cy="408940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Информационное сообщение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Важный фа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Уровень текста 1…"/>
          <p:cNvSpPr txBox="1"/>
          <p:nvPr>
            <p:ph type="body" idx="1" hasCustomPrompt="1"/>
          </p:nvPr>
        </p:nvSpPr>
        <p:spPr>
          <a:xfrm>
            <a:off x="1206500" y="1207360"/>
            <a:ext cx="21971000" cy="7351451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100 %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Информация о факте"/>
          <p:cNvSpPr txBox="1"/>
          <p:nvPr>
            <p:ph type="body" sz="quarter" idx="21" hasCustomPrompt="1"/>
          </p:nvPr>
        </p:nvSpPr>
        <p:spPr>
          <a:xfrm>
            <a:off x="1206500" y="8128000"/>
            <a:ext cx="21971000" cy="1079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90000"/>
              </a:lnSpc>
              <a:spcBef>
                <a:spcPts val="0"/>
              </a:spcBef>
              <a:buSzTx/>
              <a:buNone/>
              <a:defRPr spc="-55"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Информация о факте</a:t>
            </a:r>
          </a:p>
        </p:txBody>
      </p:sp>
      <p:sp>
        <p:nvSpPr>
          <p:cNvPr id="12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Уровень текста 1…"/>
          <p:cNvSpPr txBox="1"/>
          <p:nvPr>
            <p:ph type="body" sz="quarter" idx="1" hasCustomPrompt="1"/>
          </p:nvPr>
        </p:nvSpPr>
        <p:spPr>
          <a:xfrm>
            <a:off x="5194300" y="4165600"/>
            <a:ext cx="13995400" cy="4428667"/>
          </a:xfrm>
          <a:prstGeom prst="rect">
            <a:avLst/>
          </a:prstGeom>
        </p:spPr>
        <p:txBody>
          <a:bodyPr anchor="b"/>
          <a:lstStyle>
            <a:lvl1pPr marL="254000" indent="-2540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1pPr>
            <a:lvl2pPr marL="254000" indent="2032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2pPr>
            <a:lvl3pPr marL="254000" indent="660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3pPr>
            <a:lvl4pPr marL="254000" indent="11176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4pPr>
            <a:lvl5pPr marL="254000" indent="15748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«Важная цитата»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6" name="Авторство"/>
          <p:cNvSpPr txBox="1"/>
          <p:nvPr>
            <p:ph type="body" sz="quarter" idx="21" hasCustomPrompt="1"/>
          </p:nvPr>
        </p:nvSpPr>
        <p:spPr>
          <a:xfrm>
            <a:off x="5456257" y="9559997"/>
            <a:ext cx="13471486" cy="698501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36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Авторство</a:t>
            </a:r>
          </a:p>
        </p:txBody>
      </p:sp>
      <p:sp>
        <p:nvSpPr>
          <p:cNvPr id="13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 (3 шт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Изогнутый архитектурный объект в розовых и оранжевых тонах на фоне голубого неба"/>
          <p:cNvSpPr/>
          <p:nvPr>
            <p:ph type="pic" sz="quarter" idx="21"/>
          </p:nvPr>
        </p:nvSpPr>
        <p:spPr>
          <a:xfrm>
            <a:off x="7353300" y="3632200"/>
            <a:ext cx="9677400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Вид под углом снизу на угол современного здания под ясным голубым небом"/>
          <p:cNvSpPr/>
          <p:nvPr>
            <p:ph type="pic" sz="quarter" idx="22"/>
          </p:nvPr>
        </p:nvSpPr>
        <p:spPr>
          <a:xfrm>
            <a:off x="14617700" y="3632200"/>
            <a:ext cx="9677400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Вид под углом снизу на каменный мост под небом с облаками"/>
          <p:cNvSpPr/>
          <p:nvPr>
            <p:ph type="pic" sz="quarter" idx="23"/>
          </p:nvPr>
        </p:nvSpPr>
        <p:spPr>
          <a:xfrm>
            <a:off x="61386" y="3632200"/>
            <a:ext cx="9690101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Вид под углом снизу на современное здание из металла"/>
          <p:cNvSpPr/>
          <p:nvPr>
            <p:ph type="pic" idx="21"/>
          </p:nvPr>
        </p:nvSpPr>
        <p:spPr>
          <a:xfrm>
            <a:off x="-38100" y="-1295400"/>
            <a:ext cx="24447500" cy="1629551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Номер слайда"/>
          <p:cNvSpPr txBox="1"/>
          <p:nvPr>
            <p:ph type="sldNum" sz="quarter" idx="2"/>
          </p:nvPr>
        </p:nvSpPr>
        <p:spPr>
          <a:xfrm>
            <a:off x="23558500" y="12483845"/>
            <a:ext cx="361188" cy="4041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4B60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слайда"/>
          <p:cNvSpPr txBox="1"/>
          <p:nvPr>
            <p:ph type="title" hasCustomPrompt="1"/>
          </p:nvPr>
        </p:nvSpPr>
        <p:spPr>
          <a:xfrm>
            <a:off x="1206500" y="635000"/>
            <a:ext cx="21971000" cy="168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Заголовок слайда</a:t>
            </a:r>
          </a:p>
        </p:txBody>
      </p:sp>
      <p:sp>
        <p:nvSpPr>
          <p:cNvPr id="3" name="Уровень текста 1…"/>
          <p:cNvSpPr txBox="1"/>
          <p:nvPr>
            <p:ph type="body" idx="1" hasCustomPrompt="1"/>
          </p:nvPr>
        </p:nvSpPr>
        <p:spPr>
          <a:xfrm>
            <a:off x="1206500" y="4260642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Номер слайда"/>
          <p:cNvSpPr txBox="1"/>
          <p:nvPr>
            <p:ph type="sldNum" sz="quarter" idx="2"/>
          </p:nvPr>
        </p:nvSpPr>
        <p:spPr>
          <a:xfrm>
            <a:off x="23558500" y="12458699"/>
            <a:ext cx="388620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spcBef>
                <a:spcPts val="0"/>
              </a:spcBef>
              <a:defRPr sz="2000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1pPr>
      <a:lvl2pPr marL="0" marR="0" indent="4572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2pPr>
      <a:lvl3pPr marL="0" marR="0" indent="9144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3pPr>
      <a:lvl4pPr marL="0" marR="0" indent="13716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4pPr>
      <a:lvl5pPr marL="0" marR="0" indent="18288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5pPr>
      <a:lvl6pPr marL="0" marR="0" indent="22860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6pPr>
      <a:lvl7pPr marL="0" marR="0" indent="27432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7pPr>
      <a:lvl8pPr marL="0" marR="0" indent="32004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8pPr>
      <a:lvl9pPr marL="0" marR="0" indent="36576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9pPr>
    </p:titleStyle>
    <p:bodyStyle>
      <a:lvl1pPr marL="4572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1pPr>
      <a:lvl2pPr marL="9144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2pPr>
      <a:lvl3pPr marL="13716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3pPr>
      <a:lvl4pPr marL="18288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4pPr>
      <a:lvl5pPr marL="22860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5pPr>
      <a:lvl6pPr marL="27432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6pPr>
      <a:lvl7pPr marL="32004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7pPr>
      <a:lvl8pPr marL="36576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8pPr>
      <a:lvl9pPr marL="41148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9pPr>
    </p:bodyStyle>
    <p:otherStyle>
      <a:lvl1pPr marL="0" marR="0" indent="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e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e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e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6.jpe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Болдинов Алексей Валерьевич ЭФМО-02-24                 17.10.2025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Болдинов Алексей Валерьевич ЭФМО-02-24                 17.10.2025</a:t>
            </a:r>
          </a:p>
        </p:txBody>
      </p:sp>
      <p:sp>
        <p:nvSpPr>
          <p:cNvPr id="172" name="Бэкон и Декарт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Бэкон и Декарт</a:t>
            </a:r>
          </a:p>
        </p:txBody>
      </p:sp>
      <p:sp>
        <p:nvSpPr>
          <p:cNvPr id="173" name="Ученые нового времени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Ученые нового времени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6" name="Эпоха нового времен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975054">
              <a:defRPr spc="-81" sz="8100"/>
            </a:lvl1pPr>
          </a:lstStyle>
          <a:p>
            <a:pPr/>
            <a:r>
              <a:t>Эпоха нового времени</a:t>
            </a:r>
          </a:p>
        </p:txBody>
      </p:sp>
      <p:sp>
        <p:nvSpPr>
          <p:cNvPr id="177" name="XVI–XVII века — время появления новой науки.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XVI–XVII века — время появления новой науки.</a:t>
            </a:r>
          </a:p>
          <a:p>
            <a:pPr/>
            <a:r>
              <a:t>Люди начинают искать знания не в Библии, а в природе.</a:t>
            </a:r>
          </a:p>
          <a:p>
            <a:pPr/>
            <a:r>
              <a:t>Главная цель — понять, </a:t>
            </a:r>
            <a:r>
              <a:t>как всё устроено на самом деле</a:t>
            </a:r>
            <a:r>
              <a:t>.</a:t>
            </a:r>
          </a:p>
        </p:txBody>
      </p:sp>
      <p:pic>
        <p:nvPicPr>
          <p:cNvPr id="178" name="etap-istorii-–-novoe-vremya-e1596195888441.jpg" descr="etap-istorii-–-novoe-vremya-e1596195888441.jpg"/>
          <p:cNvPicPr>
            <a:picLocks noChangeAspect="1"/>
          </p:cNvPicPr>
          <p:nvPr>
            <p:ph type="pic" idx="22"/>
          </p:nvPr>
        </p:nvPicPr>
        <p:blipFill>
          <a:blip r:embed="rId2">
            <a:extLst/>
          </a:blip>
          <a:srcRect l="20687" t="0" r="20687" b="0"/>
          <a:stretch>
            <a:fillRect/>
          </a:stretch>
        </p:blipFill>
        <p:spPr>
          <a:xfrm>
            <a:off x="12382500" y="0"/>
            <a:ext cx="12001380" cy="13716001"/>
          </a:xfrm>
          <a:prstGeom prst="rect">
            <a:avLst/>
          </a:prstGeom>
        </p:spPr>
      </p:pic>
      <p:sp>
        <p:nvSpPr>
          <p:cNvPr id="179" name="Номер слайда"/>
          <p:cNvSpPr txBox="1"/>
          <p:nvPr>
            <p:ph type="sldNum" sz="quarter" idx="4294967295"/>
          </p:nvPr>
        </p:nvSpPr>
        <p:spPr>
          <a:xfrm>
            <a:off x="0" y="12483845"/>
            <a:ext cx="240945" cy="4041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(1561–1626)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(1561–1626)</a:t>
            </a:r>
          </a:p>
        </p:txBody>
      </p:sp>
      <p:pic>
        <p:nvPicPr>
          <p:cNvPr id="182" name="Бекон.jpg" descr="Бекон.jpg"/>
          <p:cNvPicPr>
            <a:picLocks noChangeAspect="1"/>
          </p:cNvPicPr>
          <p:nvPr>
            <p:ph type="pic" idx="22"/>
          </p:nvPr>
        </p:nvPicPr>
        <p:blipFill>
          <a:blip r:embed="rId2">
            <a:extLst/>
          </a:blip>
          <a:srcRect l="0" t="0" r="0" b="8332"/>
          <a:stretch>
            <a:fillRect/>
          </a:stretch>
        </p:blipFill>
        <p:spPr>
          <a:xfrm>
            <a:off x="12382500" y="0"/>
            <a:ext cx="12001380" cy="13716001"/>
          </a:xfrm>
          <a:prstGeom prst="rect">
            <a:avLst/>
          </a:prstGeom>
        </p:spPr>
      </p:pic>
      <p:sp>
        <p:nvSpPr>
          <p:cNvPr id="183" name="Фрэнсис Бэкон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80924">
              <a:defRPr spc="-94" sz="9480"/>
            </a:lvl1pPr>
          </a:lstStyle>
          <a:p>
            <a:pPr/>
            <a:r>
              <a:t>Фрэнсис Бэкон</a:t>
            </a:r>
          </a:p>
        </p:txBody>
      </p:sp>
      <p:sp>
        <p:nvSpPr>
          <p:cNvPr id="184" name="Главные книги: «Новый органон», «Новая Атлантида»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Главные книги: </a:t>
            </a:r>
            <a:r>
              <a:t>«Новый органон»</a:t>
            </a:r>
            <a:r>
              <a:t>, </a:t>
            </a:r>
            <a:r>
              <a:t>«Новая Атлантида»</a:t>
            </a:r>
          </a:p>
          <a:p>
            <a:pPr/>
            <a:r>
              <a:t>Наука должна помогать людям управлять природой</a:t>
            </a:r>
          </a:p>
          <a:p>
            <a:pPr/>
            <a:r>
              <a:t>Основами знаний был </a:t>
            </a:r>
            <a:r>
              <a:t>опыт и наблюдение</a:t>
            </a:r>
          </a:p>
        </p:txBody>
      </p:sp>
      <p:sp>
        <p:nvSpPr>
          <p:cNvPr id="185" name="Номер слайда"/>
          <p:cNvSpPr txBox="1"/>
          <p:nvPr>
            <p:ph type="sldNum" sz="quarter" idx="4294967295"/>
          </p:nvPr>
        </p:nvSpPr>
        <p:spPr>
          <a:xfrm>
            <a:off x="23558500" y="12483845"/>
            <a:ext cx="252375" cy="4041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Идолы ум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80924">
              <a:defRPr spc="-94" sz="9480"/>
            </a:lvl1pPr>
          </a:lstStyle>
          <a:p>
            <a:pPr/>
            <a:r>
              <a:t>Идолы ума</a:t>
            </a:r>
          </a:p>
        </p:txBody>
      </p:sp>
      <p:sp>
        <p:nvSpPr>
          <p:cNvPr id="188" name="Фрэнсис Бэкон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160019">
              <a:lnSpc>
                <a:spcPct val="90000"/>
              </a:lnSpc>
              <a:defRPr spc="-53" sz="5400"/>
            </a:lvl1pPr>
          </a:lstStyle>
          <a:p>
            <a:pPr/>
            <a:r>
              <a:t>Фрэнсис Бэкон</a:t>
            </a:r>
          </a:p>
        </p:txBody>
      </p:sp>
      <p:sp>
        <p:nvSpPr>
          <p:cNvPr id="189" name="Люди часто ошибаются в суждениях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38911" indent="-438911" defTabSz="2340805">
              <a:spcBef>
                <a:spcPts val="4500"/>
              </a:spcBef>
              <a:defRPr sz="3839"/>
            </a:pPr>
            <a:r>
              <a:t>Люди часто ошибаются в суждениях</a:t>
            </a:r>
          </a:p>
          <a:p>
            <a:pPr marL="438911" indent="-438911" defTabSz="2340805">
              <a:spcBef>
                <a:spcPts val="4500"/>
              </a:spcBef>
              <a:defRPr sz="3839"/>
            </a:pPr>
            <a:r>
              <a:t>Эти ошибки Бэкон называл </a:t>
            </a:r>
            <a:r>
              <a:rPr b="1">
                <a:latin typeface="Graphik"/>
                <a:ea typeface="Graphik"/>
                <a:cs typeface="Graphik"/>
                <a:sym typeface="Graphik"/>
              </a:rPr>
              <a:t>«идолами»</a:t>
            </a:r>
            <a:r>
              <a:t>, то есть ложными представлениями</a:t>
            </a:r>
          </a:p>
          <a:p>
            <a:pPr marL="438911" indent="-438911" defTabSz="2340805">
              <a:spcBef>
                <a:spcPts val="4500"/>
              </a:spcBef>
              <a:defRPr sz="3839"/>
            </a:pPr>
            <a:r>
              <a:t>Выделял 4 вида:</a:t>
            </a:r>
          </a:p>
          <a:p>
            <a:pPr lvl="1" marL="1341119" indent="-670559" defTabSz="2340805">
              <a:spcBef>
                <a:spcPts val="4500"/>
              </a:spcBef>
              <a:buAutoNum type="arabicPeriod" startAt="1"/>
              <a:defRPr sz="3839"/>
            </a:pPr>
            <a:r>
              <a:rPr b="1">
                <a:latin typeface="Graphik"/>
                <a:ea typeface="Graphik"/>
                <a:cs typeface="Graphik"/>
                <a:sym typeface="Graphik"/>
              </a:rPr>
              <a:t>Идолы рода</a:t>
            </a:r>
            <a:r>
              <a:t> — все люди склонны спешить с выводами</a:t>
            </a:r>
          </a:p>
          <a:p>
            <a:pPr lvl="1" marL="1341119" indent="-670559" defTabSz="2340805">
              <a:spcBef>
                <a:spcPts val="4500"/>
              </a:spcBef>
              <a:buAutoNum type="arabicPeriod" startAt="1"/>
              <a:defRPr sz="3839"/>
            </a:pPr>
            <a:r>
              <a:rPr b="1">
                <a:latin typeface="Graphik"/>
                <a:ea typeface="Graphik"/>
                <a:cs typeface="Graphik"/>
                <a:sym typeface="Graphik"/>
              </a:rPr>
              <a:t>Идолы пещеры</a:t>
            </a:r>
            <a:r>
              <a:t> — личные привычки и вкусы мешают видеть правду</a:t>
            </a:r>
          </a:p>
          <a:p>
            <a:pPr lvl="1" marL="1341119" indent="-670559" defTabSz="2340805">
              <a:spcBef>
                <a:spcPts val="4500"/>
              </a:spcBef>
              <a:buAutoNum type="arabicPeriod" startAt="1"/>
              <a:defRPr sz="3839"/>
            </a:pPr>
            <a:r>
              <a:rPr b="1">
                <a:latin typeface="Graphik"/>
                <a:ea typeface="Graphik"/>
                <a:cs typeface="Graphik"/>
                <a:sym typeface="Graphik"/>
              </a:rPr>
              <a:t>Идолы рынка</a:t>
            </a:r>
            <a:r>
              <a:t> — влияние чужих слов и мнений</a:t>
            </a:r>
          </a:p>
          <a:p>
            <a:pPr lvl="1" marL="1341119" indent="-670559" defTabSz="2340805">
              <a:spcBef>
                <a:spcPts val="4500"/>
              </a:spcBef>
              <a:buAutoNum type="arabicPeriod" startAt="1"/>
              <a:defRPr sz="3839"/>
            </a:pPr>
            <a:r>
              <a:rPr b="1">
                <a:latin typeface="Graphik"/>
                <a:ea typeface="Graphik"/>
                <a:cs typeface="Graphik"/>
                <a:sym typeface="Graphik"/>
              </a:rPr>
              <a:t>Идолы театра</a:t>
            </a:r>
            <a:r>
              <a:t> — вера в старые теории и авторитеты</a:t>
            </a:r>
          </a:p>
        </p:txBody>
      </p:sp>
      <p:sp>
        <p:nvSpPr>
          <p:cNvPr id="190" name="Номер слайда"/>
          <p:cNvSpPr txBox="1"/>
          <p:nvPr>
            <p:ph type="sldNum" sz="quarter" idx="4294967295"/>
          </p:nvPr>
        </p:nvSpPr>
        <p:spPr>
          <a:xfrm>
            <a:off x="23558500" y="12458699"/>
            <a:ext cx="271018" cy="4292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Метод Бэкона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Метод Бэкона</a:t>
            </a:r>
          </a:p>
        </p:txBody>
      </p:sp>
      <p:pic>
        <p:nvPicPr>
          <p:cNvPr id="193" name="Novum_Organum_1650_crop.jpg" descr="Novum_Organum_1650_crop.jpg"/>
          <p:cNvPicPr>
            <a:picLocks noChangeAspect="1"/>
          </p:cNvPicPr>
          <p:nvPr>
            <p:ph type="pic" idx="22"/>
          </p:nvPr>
        </p:nvPicPr>
        <p:blipFill>
          <a:blip r:embed="rId2">
            <a:extLst/>
          </a:blip>
          <a:srcRect l="0" t="14911" r="0" b="14911"/>
          <a:stretch>
            <a:fillRect/>
          </a:stretch>
        </p:blipFill>
        <p:spPr>
          <a:xfrm>
            <a:off x="12379076" y="0"/>
            <a:ext cx="12001381" cy="13716001"/>
          </a:xfrm>
          <a:prstGeom prst="rect">
            <a:avLst/>
          </a:prstGeom>
        </p:spPr>
      </p:pic>
      <p:sp>
        <p:nvSpPr>
          <p:cNvPr id="194" name="Индукци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330708">
              <a:defRPr spc="-111" sz="11160"/>
            </a:lvl1pPr>
          </a:lstStyle>
          <a:p>
            <a:pPr/>
            <a:r>
              <a:t>Индукция</a:t>
            </a:r>
          </a:p>
        </p:txBody>
      </p:sp>
      <p:sp>
        <p:nvSpPr>
          <p:cNvPr id="195" name="Наблюдаем и собираем факты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marL="698500" indent="-698500">
              <a:buAutoNum type="arabicPeriod" startAt="1"/>
            </a:pPr>
            <a:r>
              <a:t>Наблюдаем и собираем факты</a:t>
            </a:r>
          </a:p>
          <a:p>
            <a:pPr marL="698500" indent="-698500">
              <a:buAutoNum type="arabicPeriod" startAt="1"/>
            </a:pPr>
            <a:r>
              <a:t>Сравниваем и ищем закономерности</a:t>
            </a:r>
          </a:p>
          <a:p>
            <a:pPr marL="698500" indent="-698500">
              <a:buAutoNum type="arabicPeriod" startAt="1"/>
            </a:pPr>
            <a:r>
              <a:t>Делаем общий вывод</a:t>
            </a:r>
          </a:p>
          <a:p>
            <a:pPr marL="698500" indent="-698500">
              <a:buAutoNum type="arabicPeriod" startAt="1"/>
            </a:pPr>
            <a:r>
              <a:t>Проверяем его новым опытом</a:t>
            </a:r>
          </a:p>
        </p:txBody>
      </p:sp>
      <p:sp>
        <p:nvSpPr>
          <p:cNvPr id="196" name="Номер слайда"/>
          <p:cNvSpPr txBox="1"/>
          <p:nvPr>
            <p:ph type="sldNum" sz="quarter" idx="4294967295"/>
          </p:nvPr>
        </p:nvSpPr>
        <p:spPr>
          <a:xfrm>
            <a:off x="23558500" y="12483845"/>
            <a:ext cx="248489" cy="4041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(1596–1650)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(1596–1650)</a:t>
            </a:r>
          </a:p>
        </p:txBody>
      </p:sp>
      <p:pic>
        <p:nvPicPr>
          <p:cNvPr id="199" name="Frans_Hals_-_Portret_van_René_Descartes.jpg" descr="Frans_Hals_-_Portret_van_René_Descartes.jpg"/>
          <p:cNvPicPr>
            <a:picLocks noChangeAspect="1"/>
          </p:cNvPicPr>
          <p:nvPr>
            <p:ph type="pic" idx="22"/>
          </p:nvPr>
        </p:nvPicPr>
        <p:blipFill>
          <a:blip r:embed="rId2">
            <a:extLst/>
          </a:blip>
          <a:srcRect l="0" t="0" r="0" b="6627"/>
          <a:stretch>
            <a:fillRect/>
          </a:stretch>
        </p:blipFill>
        <p:spPr>
          <a:xfrm>
            <a:off x="12382500" y="0"/>
            <a:ext cx="12001380" cy="13716001"/>
          </a:xfrm>
          <a:prstGeom prst="rect">
            <a:avLst/>
          </a:prstGeom>
        </p:spPr>
      </p:pic>
      <p:sp>
        <p:nvSpPr>
          <p:cNvPr id="200" name="Рене Декарт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80924">
              <a:defRPr spc="-94" sz="9480"/>
            </a:lvl1pPr>
          </a:lstStyle>
          <a:p>
            <a:pPr/>
            <a:r>
              <a:t>Рене Декарт</a:t>
            </a:r>
          </a:p>
        </p:txBody>
      </p:sp>
      <p:sp>
        <p:nvSpPr>
          <p:cNvPr id="201" name="Философ, математик и физик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Философ, математик и физик</a:t>
            </a:r>
          </a:p>
          <a:p>
            <a:pPr/>
            <a:r>
              <a:t>Г</a:t>
            </a:r>
            <a:r>
              <a:t>лавные книги: </a:t>
            </a:r>
            <a:r>
              <a:t>«Рассуждение о методе»</a:t>
            </a:r>
            <a:r>
              <a:t>, </a:t>
            </a:r>
            <a:r>
              <a:t>«Начала философии»</a:t>
            </a:r>
          </a:p>
          <a:p>
            <a:pPr/>
            <a:r>
              <a:t>Считал, что основа науки — </a:t>
            </a:r>
            <a:r>
              <a:rPr b="1">
                <a:latin typeface="Graphik"/>
                <a:ea typeface="Graphik"/>
                <a:cs typeface="Graphik"/>
                <a:sym typeface="Graphik"/>
              </a:rPr>
              <a:t>разум</a:t>
            </a:r>
            <a:r>
              <a:t> и </a:t>
            </a:r>
            <a:r>
              <a:rPr b="1">
                <a:latin typeface="Graphik"/>
                <a:ea typeface="Graphik"/>
                <a:cs typeface="Graphik"/>
                <a:sym typeface="Graphik"/>
              </a:rPr>
              <a:t>логика</a:t>
            </a:r>
          </a:p>
        </p:txBody>
      </p:sp>
      <p:sp>
        <p:nvSpPr>
          <p:cNvPr id="202" name="Номер слайда"/>
          <p:cNvSpPr txBox="1"/>
          <p:nvPr>
            <p:ph type="sldNum" sz="quarter" idx="4294967295"/>
          </p:nvPr>
        </p:nvSpPr>
        <p:spPr>
          <a:xfrm>
            <a:off x="23558500" y="12483845"/>
            <a:ext cx="255804" cy="4041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Метод Декарта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Метод Декарта</a:t>
            </a:r>
          </a:p>
        </p:txBody>
      </p:sp>
      <p:pic>
        <p:nvPicPr>
          <p:cNvPr id="205" name="Descartes_Discours_de_la_Methode.jpg" descr="Descartes_Discours_de_la_Methode.jpg"/>
          <p:cNvPicPr>
            <a:picLocks noChangeAspect="1"/>
          </p:cNvPicPr>
          <p:nvPr>
            <p:ph type="pic" idx="22"/>
          </p:nvPr>
        </p:nvPicPr>
        <p:blipFill>
          <a:blip r:embed="rId2">
            <a:extLst/>
          </a:blip>
          <a:srcRect l="0" t="0" r="0" b="0"/>
          <a:stretch>
            <a:fillRect/>
          </a:stretch>
        </p:blipFill>
        <p:spPr>
          <a:xfrm>
            <a:off x="14235119" y="-58566"/>
            <a:ext cx="10148761" cy="13815561"/>
          </a:xfrm>
          <a:prstGeom prst="rect">
            <a:avLst/>
          </a:prstGeom>
          <a:ln w="25400"/>
          <a:effectLst>
            <a:outerShdw sx="100000" sy="100000" kx="0" ky="0" algn="b" rotWithShape="0" blurRad="254000" dist="127000" dir="5400000">
              <a:srgbClr val="000000">
                <a:alpha val="70000"/>
              </a:srgbClr>
            </a:outerShdw>
          </a:effectLst>
        </p:spPr>
      </p:pic>
      <p:sp>
        <p:nvSpPr>
          <p:cNvPr id="206" name="Порядок и ясность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80924">
              <a:defRPr spc="-94" sz="9480"/>
            </a:lvl1pPr>
          </a:lstStyle>
          <a:p>
            <a:pPr/>
            <a:r>
              <a:t>Порядок и ясность</a:t>
            </a:r>
          </a:p>
        </p:txBody>
      </p:sp>
      <p:sp>
        <p:nvSpPr>
          <p:cNvPr id="207" name="Не верь ничему, что не доказано.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Не верь ничему, что не доказано.</a:t>
            </a:r>
          </a:p>
          <a:p>
            <a:pPr/>
            <a:r>
              <a:t>Делай трудные вопросы проще.</a:t>
            </a:r>
          </a:p>
          <a:p>
            <a:pPr/>
            <a:r>
              <a:t>Двигайся шаг за шагом — от простого к сложному.</a:t>
            </a:r>
          </a:p>
          <a:p>
            <a:pPr/>
            <a:r>
              <a:t>Проверяй, чтобы ничего не пропустить</a:t>
            </a:r>
          </a:p>
        </p:txBody>
      </p:sp>
      <p:sp>
        <p:nvSpPr>
          <p:cNvPr id="208" name="Номер слайда"/>
          <p:cNvSpPr txBox="1"/>
          <p:nvPr>
            <p:ph type="sldNum" sz="quarter" idx="4294967295"/>
          </p:nvPr>
        </p:nvSpPr>
        <p:spPr>
          <a:xfrm>
            <a:off x="23558500" y="12483845"/>
            <a:ext cx="234315" cy="40411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Декарт и Бэкон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80924">
              <a:defRPr spc="-94" sz="9480"/>
            </a:lvl1pPr>
          </a:lstStyle>
          <a:p>
            <a:pPr/>
            <a:r>
              <a:t>Декарт и Бэкон</a:t>
            </a:r>
          </a:p>
        </p:txBody>
      </p:sp>
      <p:sp>
        <p:nvSpPr>
          <p:cNvPr id="211" name="2 пути к науке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2 пути к науке</a:t>
            </a:r>
          </a:p>
        </p:txBody>
      </p:sp>
      <p:graphicFrame>
        <p:nvGraphicFramePr>
          <p:cNvPr id="212" name="Tаблица 1"/>
          <p:cNvGraphicFramePr/>
          <p:nvPr/>
        </p:nvGraphicFramePr>
        <p:xfrm>
          <a:off x="2139950" y="4133850"/>
          <a:ext cx="4445000" cy="4494792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5573949"/>
                <a:gridCol w="7265075"/>
                <a:gridCol w="7265075"/>
              </a:tblGrid>
              <a:tr h="749131"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  <a:sym typeface="Graphik Semibold"/>
                        </a:rPr>
                        <a:t>                        </a:t>
                      </a:r>
                    </a:p>
                  </a:txBody>
                  <a:tcPr marL="50800" marR="50800" marT="50800" marB="50800" anchor="ctr" anchorCtr="0" horzOverflow="overflow">
                    <a:lnL w="38100">
                      <a:solidFill>
                        <a:srgbClr val="D5D5D5"/>
                      </a:solidFill>
                      <a:miter lim="400000"/>
                    </a:lnL>
                    <a:lnR w="38100">
                      <a:solidFill>
                        <a:srgbClr val="D5D5D5"/>
                      </a:solidFill>
                      <a:miter lim="400000"/>
                    </a:lnR>
                    <a:lnT w="38100">
                      <a:solidFill>
                        <a:srgbClr val="D5D5D5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  <a:sym typeface="Graphik Semibold"/>
                        </a:rPr>
                        <a:t>Декарт</a:t>
                      </a:r>
                    </a:p>
                  </a:txBody>
                  <a:tcPr marL="50800" marR="50800" marT="50800" marB="50800" anchor="ctr" anchorCtr="0" horzOverflow="overflow">
                    <a:lnL w="38100">
                      <a:solidFill>
                        <a:srgbClr val="D5D5D5"/>
                      </a:solidFill>
                      <a:miter lim="400000"/>
                    </a:lnL>
                    <a:lnR w="38100">
                      <a:solidFill>
                        <a:srgbClr val="D5D5D5"/>
                      </a:solidFill>
                      <a:miter lim="400000"/>
                    </a:lnR>
                    <a:lnT w="38100">
                      <a:solidFill>
                        <a:srgbClr val="D5D5D5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  <a:sym typeface="Graphik Semibold"/>
                        </a:rPr>
                        <a:t>Бэкон</a:t>
                      </a:r>
                    </a:p>
                  </a:txBody>
                  <a:tcPr marL="50800" marR="50800" marT="50800" marB="50800" anchor="ctr" anchorCtr="0" horzOverflow="overflow">
                    <a:lnL w="38100">
                      <a:solidFill>
                        <a:srgbClr val="D5D5D5"/>
                      </a:solidFill>
                      <a:miter lim="400000"/>
                    </a:lnL>
                    <a:lnR w="38100">
                      <a:solidFill>
                        <a:srgbClr val="D5D5D5"/>
                      </a:solidFill>
                      <a:miter lim="400000"/>
                    </a:lnR>
                    <a:lnT w="38100">
                      <a:solidFill>
                        <a:srgbClr val="D5D5D5"/>
                      </a:solidFill>
                      <a:miter lim="400000"/>
                    </a:lnT>
                  </a:tcPr>
                </a:tc>
              </a:tr>
              <a:tr h="749131"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Главный источник знаний</a:t>
                      </a:r>
                    </a:p>
                  </a:txBody>
                  <a:tcPr marL="50800" marR="50800" marT="50800" marB="50800" anchor="ctr" anchorCtr="0" horzOverflow="overflow">
                    <a:lnL w="38100">
                      <a:solidFill>
                        <a:srgbClr val="D5D5D5"/>
                      </a:solidFill>
                      <a:miter lim="400000"/>
                    </a:lnL>
                    <a:lnR w="38100">
                      <a:solidFill>
                        <a:srgbClr val="D5D5D5"/>
                      </a:solidFill>
                      <a:miter lim="400000"/>
                    </a:lnR>
                    <a:lnB w="38100">
                      <a:solidFill>
                        <a:srgbClr val="D5D5D5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Разум, мышление</a:t>
                      </a:r>
                    </a:p>
                  </a:txBody>
                  <a:tcPr marL="50800" marR="50800" marT="50800" marB="50800" anchor="ctr" anchorCtr="0" horzOverflow="overflow">
                    <a:lnL w="38100">
                      <a:solidFill>
                        <a:srgbClr val="D5D5D5"/>
                      </a:solidFill>
                      <a:miter lim="400000"/>
                    </a:lnL>
                    <a:lnR w="38100">
                      <a:solidFill>
                        <a:srgbClr val="D5D5D5"/>
                      </a:solidFill>
                      <a:miter lim="400000"/>
                    </a:lnR>
                    <a:lnB w="38100">
                      <a:solidFill>
                        <a:srgbClr val="D5D5D5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Опыт, наблюдение</a:t>
                      </a:r>
                    </a:p>
                  </a:txBody>
                  <a:tcPr marL="50800" marR="50800" marT="50800" marB="50800" anchor="ctr" anchorCtr="0" horzOverflow="overflow">
                    <a:lnL w="38100">
                      <a:solidFill>
                        <a:srgbClr val="D5D5D5"/>
                      </a:solidFill>
                      <a:miter lim="400000"/>
                    </a:lnL>
                    <a:lnR w="38100">
                      <a:solidFill>
                        <a:srgbClr val="D5D5D5"/>
                      </a:solidFill>
                      <a:miter lim="400000"/>
                    </a:lnR>
                    <a:lnB w="38100">
                      <a:solidFill>
                        <a:srgbClr val="D5D5D5"/>
                      </a:solidFill>
                      <a:miter lim="400000"/>
                    </a:lnB>
                  </a:tcPr>
                </a:tc>
              </a:tr>
              <a:tr h="749131"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Метод</a:t>
                      </a:r>
                    </a:p>
                  </a:txBody>
                  <a:tcPr marL="50800" marR="50800" marT="50800" marB="50800" anchor="ctr" anchorCtr="0" horzOverflow="overflow">
                    <a:lnL w="38100">
                      <a:solidFill>
                        <a:srgbClr val="D5D5D5"/>
                      </a:solidFill>
                      <a:miter lim="400000"/>
                    </a:lnL>
                    <a:lnR w="38100">
                      <a:solidFill>
                        <a:srgbClr val="D5D5D5"/>
                      </a:solidFill>
                      <a:miter lim="400000"/>
                    </a:lnR>
                    <a:lnT w="38100">
                      <a:solidFill>
                        <a:srgbClr val="D5D5D5"/>
                      </a:solidFill>
                      <a:miter lim="400000"/>
                    </a:lnT>
                    <a:lnB w="38100">
                      <a:solidFill>
                        <a:srgbClr val="D5D5D5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Дедукция (от общего к частному)</a:t>
                      </a:r>
                    </a:p>
                  </a:txBody>
                  <a:tcPr marL="50800" marR="50800" marT="50800" marB="50800" anchor="ctr" anchorCtr="0" horzOverflow="overflow">
                    <a:lnL w="38100">
                      <a:solidFill>
                        <a:srgbClr val="D5D5D5"/>
                      </a:solidFill>
                      <a:miter lim="400000"/>
                    </a:lnL>
                    <a:lnR w="38100">
                      <a:solidFill>
                        <a:srgbClr val="D5D5D5"/>
                      </a:solidFill>
                      <a:miter lim="400000"/>
                    </a:lnR>
                    <a:lnT w="38100">
                      <a:solidFill>
                        <a:srgbClr val="D5D5D5"/>
                      </a:solidFill>
                      <a:miter lim="400000"/>
                    </a:lnT>
                    <a:lnB w="38100">
                      <a:solidFill>
                        <a:srgbClr val="D5D5D5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Индукция (от частного к общему)</a:t>
                      </a:r>
                    </a:p>
                  </a:txBody>
                  <a:tcPr marL="50800" marR="50800" marT="50800" marB="50800" anchor="ctr" anchorCtr="0" horzOverflow="overflow">
                    <a:lnL w="38100">
                      <a:solidFill>
                        <a:srgbClr val="D5D5D5"/>
                      </a:solidFill>
                      <a:miter lim="400000"/>
                    </a:lnL>
                    <a:lnR w="38100">
                      <a:solidFill>
                        <a:srgbClr val="D5D5D5"/>
                      </a:solidFill>
                      <a:miter lim="400000"/>
                    </a:lnR>
                    <a:lnT w="38100">
                      <a:solidFill>
                        <a:srgbClr val="D5D5D5"/>
                      </a:solidFill>
                      <a:miter lim="400000"/>
                    </a:lnT>
                    <a:lnB w="38100">
                      <a:solidFill>
                        <a:srgbClr val="D5D5D5"/>
                      </a:solidFill>
                      <a:miter lim="400000"/>
                    </a:lnB>
                  </a:tcPr>
                </a:tc>
              </a:tr>
              <a:tr h="749131"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Цель науки</a:t>
                      </a:r>
                    </a:p>
                  </a:txBody>
                  <a:tcPr marL="50800" marR="50800" marT="50800" marB="50800" anchor="ctr" anchorCtr="0" horzOverflow="overflow">
                    <a:lnL w="38100">
                      <a:solidFill>
                        <a:srgbClr val="D5D5D5"/>
                      </a:solidFill>
                      <a:miter lim="400000"/>
                    </a:lnL>
                    <a:lnR w="38100">
                      <a:solidFill>
                        <a:srgbClr val="D5D5D5"/>
                      </a:solidFill>
                      <a:miter lim="400000"/>
                    </a:lnR>
                    <a:lnT w="38100">
                      <a:solidFill>
                        <a:srgbClr val="D5D5D5"/>
                      </a:solidFill>
                      <a:miter lim="400000"/>
                    </a:lnT>
                    <a:lnB w="38100">
                      <a:solidFill>
                        <a:srgbClr val="D5D5D5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Найти достоверную истину</a:t>
                      </a:r>
                    </a:p>
                  </a:txBody>
                  <a:tcPr marL="50800" marR="50800" marT="50800" marB="50800" anchor="ctr" anchorCtr="0" horzOverflow="overflow">
                    <a:lnL w="38100">
                      <a:solidFill>
                        <a:srgbClr val="D5D5D5"/>
                      </a:solidFill>
                      <a:miter lim="400000"/>
                    </a:lnL>
                    <a:lnR w="38100">
                      <a:solidFill>
                        <a:srgbClr val="D5D5D5"/>
                      </a:solidFill>
                      <a:miter lim="400000"/>
                    </a:lnR>
                    <a:lnT w="38100">
                      <a:solidFill>
                        <a:srgbClr val="D5D5D5"/>
                      </a:solidFill>
                      <a:miter lim="400000"/>
                    </a:lnT>
                    <a:lnB w="38100">
                      <a:solidFill>
                        <a:srgbClr val="D5D5D5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Управлять природой</a:t>
                      </a:r>
                    </a:p>
                  </a:txBody>
                  <a:tcPr marL="50800" marR="50800" marT="50800" marB="50800" anchor="ctr" anchorCtr="0" horzOverflow="overflow">
                    <a:lnL w="38100">
                      <a:solidFill>
                        <a:srgbClr val="D5D5D5"/>
                      </a:solidFill>
                      <a:miter lim="400000"/>
                    </a:lnL>
                    <a:lnR w="38100">
                      <a:solidFill>
                        <a:srgbClr val="D5D5D5"/>
                      </a:solidFill>
                      <a:miter lim="400000"/>
                    </a:lnR>
                    <a:lnT w="38100">
                      <a:solidFill>
                        <a:srgbClr val="D5D5D5"/>
                      </a:solidFill>
                      <a:miter lim="400000"/>
                    </a:lnT>
                    <a:lnB w="38100">
                      <a:solidFill>
                        <a:srgbClr val="D5D5D5"/>
                      </a:solidFill>
                      <a:miter lim="400000"/>
                    </a:lnB>
                  </a:tcPr>
                </a:tc>
              </a:tr>
              <a:tr h="749131"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Пример</a:t>
                      </a:r>
                    </a:p>
                  </a:txBody>
                  <a:tcPr marL="50800" marR="50800" marT="50800" marB="50800" anchor="ctr" anchorCtr="0" horzOverflow="overflow">
                    <a:lnL w="38100">
                      <a:solidFill>
                        <a:srgbClr val="D5D5D5"/>
                      </a:solidFill>
                      <a:miter lim="400000"/>
                    </a:lnL>
                    <a:lnR w="38100">
                      <a:solidFill>
                        <a:srgbClr val="D5D5D5"/>
                      </a:solidFill>
                      <a:miter lim="400000"/>
                    </a:lnR>
                    <a:lnT w="38100">
                      <a:solidFill>
                        <a:srgbClr val="D5D5D5"/>
                      </a:solidFill>
                      <a:miter lim="400000"/>
                    </a:lnT>
                    <a:lnB w="38100">
                      <a:solidFill>
                        <a:srgbClr val="D5D5D5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Математика</a:t>
                      </a:r>
                    </a:p>
                  </a:txBody>
                  <a:tcPr marL="50800" marR="50800" marT="50800" marB="50800" anchor="ctr" anchorCtr="0" horzOverflow="overflow">
                    <a:lnL w="38100">
                      <a:solidFill>
                        <a:srgbClr val="D5D5D5"/>
                      </a:solidFill>
                      <a:miter lim="400000"/>
                    </a:lnL>
                    <a:lnR w="38100">
                      <a:solidFill>
                        <a:srgbClr val="D5D5D5"/>
                      </a:solidFill>
                      <a:miter lim="400000"/>
                    </a:lnR>
                    <a:lnT w="38100">
                      <a:solidFill>
                        <a:srgbClr val="D5D5D5"/>
                      </a:solidFill>
                      <a:miter lim="400000"/>
                    </a:lnT>
                    <a:lnB w="38100">
                      <a:solidFill>
                        <a:srgbClr val="D5D5D5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Эксперимент</a:t>
                      </a:r>
                    </a:p>
                  </a:txBody>
                  <a:tcPr marL="50800" marR="50800" marT="50800" marB="50800" anchor="ctr" anchorCtr="0" horzOverflow="overflow">
                    <a:lnL w="38100">
                      <a:solidFill>
                        <a:srgbClr val="D5D5D5"/>
                      </a:solidFill>
                      <a:miter lim="400000"/>
                    </a:lnL>
                    <a:lnR w="38100">
                      <a:solidFill>
                        <a:srgbClr val="D5D5D5"/>
                      </a:solidFill>
                      <a:miter lim="400000"/>
                    </a:lnR>
                    <a:lnT w="38100">
                      <a:solidFill>
                        <a:srgbClr val="D5D5D5"/>
                      </a:solidFill>
                      <a:miter lim="400000"/>
                    </a:lnT>
                    <a:lnB w="38100">
                      <a:solidFill>
                        <a:srgbClr val="D5D5D5"/>
                      </a:solidFill>
                      <a:miter lim="400000"/>
                    </a:lnB>
                  </a:tcPr>
                </a:tc>
              </a:tr>
              <a:tr h="749131">
                <a:tc>
                  <a:txBody>
                    <a:bodyPr/>
                    <a:lstStyle/>
                    <a:p>
                      <a:pPr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Недостаток</a:t>
                      </a:r>
                    </a:p>
                  </a:txBody>
                  <a:tcPr marL="50800" marR="50800" marT="50800" marB="50800" anchor="ctr" anchorCtr="0" horzOverflow="overflow">
                    <a:lnL w="38100">
                      <a:solidFill>
                        <a:srgbClr val="D5D5D5"/>
                      </a:solidFill>
                      <a:miter lim="400000"/>
                    </a:lnL>
                    <a:lnR w="38100">
                      <a:solidFill>
                        <a:srgbClr val="D5D5D5"/>
                      </a:solidFill>
                      <a:miter lim="400000"/>
                    </a:lnR>
                    <a:lnT w="38100">
                      <a:solidFill>
                        <a:srgbClr val="D5D5D5"/>
                      </a:solidFill>
                      <a:miter lim="400000"/>
                    </a:lnT>
                    <a:lnB w="38100">
                      <a:solidFill>
                        <a:srgbClr val="D5D5D5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Мало опоры на опыт</a:t>
                      </a:r>
                    </a:p>
                  </a:txBody>
                  <a:tcPr marL="50800" marR="50800" marT="50800" marB="50800" anchor="ctr" anchorCtr="0" horzOverflow="overflow">
                    <a:lnL w="38100">
                      <a:solidFill>
                        <a:srgbClr val="D5D5D5"/>
                      </a:solidFill>
                      <a:miter lim="400000"/>
                    </a:lnL>
                    <a:lnR w="38100">
                      <a:solidFill>
                        <a:srgbClr val="D5D5D5"/>
                      </a:solidFill>
                      <a:miter lim="400000"/>
                    </a:lnR>
                    <a:lnT w="38100">
                      <a:solidFill>
                        <a:srgbClr val="D5D5D5"/>
                      </a:solidFill>
                      <a:miter lim="400000"/>
                    </a:lnT>
                    <a:lnB w="38100">
                      <a:solidFill>
                        <a:srgbClr val="D5D5D5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Мало логики и математики</a:t>
                      </a:r>
                    </a:p>
                  </a:txBody>
                  <a:tcPr marL="50800" marR="50800" marT="50800" marB="50800" anchor="ctr" anchorCtr="0" horzOverflow="overflow">
                    <a:lnL w="38100">
                      <a:solidFill>
                        <a:srgbClr val="D5D5D5"/>
                      </a:solidFill>
                      <a:miter lim="400000"/>
                    </a:lnL>
                    <a:lnR w="38100">
                      <a:solidFill>
                        <a:srgbClr val="D5D5D5"/>
                      </a:solidFill>
                      <a:miter lim="400000"/>
                    </a:lnR>
                    <a:lnT w="38100">
                      <a:solidFill>
                        <a:srgbClr val="D5D5D5"/>
                      </a:solidFill>
                      <a:miter lim="400000"/>
                    </a:lnT>
                    <a:lnB w="38100">
                      <a:solidFill>
                        <a:srgbClr val="D5D5D5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  <p:pic>
        <p:nvPicPr>
          <p:cNvPr id="213" name="Изображение" descr="Изображение"/>
          <p:cNvPicPr>
            <a:picLocks noChangeAspect="1"/>
          </p:cNvPicPr>
          <p:nvPr/>
        </p:nvPicPr>
        <p:blipFill>
          <a:blip r:embed="rId2">
            <a:extLst/>
          </a:blip>
          <a:srcRect l="0" t="0" r="0" b="51114"/>
          <a:stretch>
            <a:fillRect/>
          </a:stretch>
        </p:blipFill>
        <p:spPr>
          <a:xfrm>
            <a:off x="4509690" y="9210354"/>
            <a:ext cx="15364440" cy="3755458"/>
          </a:xfrm>
          <a:prstGeom prst="rect">
            <a:avLst/>
          </a:prstGeom>
          <a:ln w="12700">
            <a:miter lim="400000"/>
          </a:ln>
        </p:spPr>
      </p:pic>
      <p:sp>
        <p:nvSpPr>
          <p:cNvPr id="214" name="Номер слайда"/>
          <p:cNvSpPr txBox="1"/>
          <p:nvPr>
            <p:ph type="sldNum" sz="quarter" idx="4294967295"/>
          </p:nvPr>
        </p:nvSpPr>
        <p:spPr>
          <a:xfrm>
            <a:off x="23558500" y="12458699"/>
            <a:ext cx="268479" cy="4292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Спасибо за внимание!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Спасибо за внимание!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7_MinimalistDark">
  <a:themeElements>
    <a:clrScheme name="37_MinimalistDark">
      <a:dk1>
        <a:srgbClr val="4B6079"/>
      </a:dk1>
      <a:lt1>
        <a:srgbClr val="FFFFFF"/>
      </a:lt1>
      <a:dk2>
        <a:srgbClr val="6F6F6F"/>
      </a:dk2>
      <a:lt2>
        <a:srgbClr val="D5D5D5"/>
      </a:lt2>
      <a:accent1>
        <a:srgbClr val="9BAABB"/>
      </a:accent1>
      <a:accent2>
        <a:srgbClr val="4CECD6"/>
      </a:accent2>
      <a:accent3>
        <a:srgbClr val="31FD29"/>
      </a:accent3>
      <a:accent4>
        <a:srgbClr val="FEFB00"/>
      </a:accent4>
      <a:accent5>
        <a:srgbClr val="F8ADB9"/>
      </a:accent5>
      <a:accent6>
        <a:srgbClr val="DE9DFE"/>
      </a:accent6>
      <a:hlink>
        <a:srgbClr val="0000FF"/>
      </a:hlink>
      <a:folHlink>
        <a:srgbClr val="FF00FF"/>
      </a:folHlink>
    </a:clrScheme>
    <a:fontScheme name="37_MinimalistDark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7_MinimalistDar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chemeClr val="accent1">
                <a:satOff val="5092"/>
                <a:lumOff val="-28652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7_MinimalistDark">
  <a:themeElements>
    <a:clrScheme name="37_MinimalistDark">
      <a:dk1>
        <a:srgbClr val="000000"/>
      </a:dk1>
      <a:lt1>
        <a:srgbClr val="FFFFFF"/>
      </a:lt1>
      <a:dk2>
        <a:srgbClr val="6F6F6F"/>
      </a:dk2>
      <a:lt2>
        <a:srgbClr val="D5D5D5"/>
      </a:lt2>
      <a:accent1>
        <a:srgbClr val="9BAABB"/>
      </a:accent1>
      <a:accent2>
        <a:srgbClr val="4CECD6"/>
      </a:accent2>
      <a:accent3>
        <a:srgbClr val="31FD29"/>
      </a:accent3>
      <a:accent4>
        <a:srgbClr val="FEFB00"/>
      </a:accent4>
      <a:accent5>
        <a:srgbClr val="F8ADB9"/>
      </a:accent5>
      <a:accent6>
        <a:srgbClr val="DE9DFE"/>
      </a:accent6>
      <a:hlink>
        <a:srgbClr val="0000FF"/>
      </a:hlink>
      <a:folHlink>
        <a:srgbClr val="FF00FF"/>
      </a:folHlink>
    </a:clrScheme>
    <a:fontScheme name="37_MinimalistDark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7_MinimalistDar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chemeClr val="accent1">
                <a:satOff val="5092"/>
                <a:lumOff val="-28652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